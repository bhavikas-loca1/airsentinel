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ET AI HACKATHON · PROBLEM STATEMENT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Cambria"/>
              </a:rPr>
              <a:t>AirSentinel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CADCFC"/>
                </a:solidFill>
                <a:latin typeface="Calibri"/>
              </a:rPr>
              <a:t>Predicting Delhi's air quality 24-72 hours ahead, guessing why it's bad, and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CADCFC"/>
                </a:solidFill>
                <a:latin typeface="Calibri"/>
              </a:rPr>
              <a:t>turning that into GRAP-ready action — before the air, not after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343400"/>
            <a:ext cx="2960827" cy="36576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050" b="1">
                <a:solidFill>
                  <a:srgbClr val="CADCFC"/>
                </a:solidFill>
                <a:latin typeface="Calibri"/>
              </a:rPr>
              <a:t>Live scraped, zero fabricated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66667" y="4343400"/>
            <a:ext cx="3260750" cy="36576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050" b="1">
                <a:solidFill>
                  <a:srgbClr val="CADCFC"/>
                </a:solidFill>
                <a:latin typeface="Calibri"/>
              </a:rPr>
              <a:t>3 working modules, verified end-to-end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10297" y="4343400"/>
            <a:ext cx="2660904" cy="365760"/>
          </a:xfrm>
          <a:prstGeom prst="roundRect">
            <a:avLst>
              <a:gd name="adj" fmla="val 50000"/>
            </a:avLst>
          </a:prstGeom>
          <a:solidFill>
            <a:srgbClr val="14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050" b="1">
                <a:solidFill>
                  <a:srgbClr val="CADCFC"/>
                </a:solidFill>
                <a:latin typeface="Calibri"/>
              </a:rPr>
              <a:t>GRAP-native, not a replacement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F9CC7"/>
                </a:solidFill>
                <a:latin typeface="Calibri"/>
              </a:rPr>
              <a:t>Master document — project status, architecture, GRAP relevance, and integration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1264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8F9CC7"/>
                </a:solidFill>
                <a:latin typeface="Calibri"/>
              </a:rPr>
              <a:t>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mbria"/>
              </a:rPr>
              <a:t>GRAP already exists. It's just always a step behind.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291840" cy="23774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mbria"/>
              </a:rPr>
              <a:t>13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2880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times Delhi invoked GRAP reactively this winter — after AQI had already crossed the threshold, not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691640"/>
            <a:ext cx="74066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•  </a:t>
            </a:r>
            <a:r>
              <a:rPr sz="1450">
                <a:solidFill>
                  <a:srgbClr val="1A1A1A"/>
                </a:solidFill>
                <a:latin typeface="Calibri"/>
              </a:rPr>
              <a:t>GRAP (Graded Response Action Plan) tells officials WHAT to do once air is already Poor, Very Poor, Severe, or Severe+.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•  </a:t>
            </a:r>
            <a:r>
              <a:rPr sz="1450">
                <a:solidFill>
                  <a:srgbClr val="1A1A1A"/>
                </a:solidFill>
                <a:latin typeface="Calibri"/>
              </a:rPr>
              <a:t>It does not tell them WHEN a zone will get bad, WHICH zone first, or WHY (dust vs. traffic vs. industry) — so action starts after the damage, not before it.</a:t>
            </a:r>
          </a:p>
          <a:p>
            <a:pPr>
              <a:lnSpc>
                <a:spcPct val="125000"/>
              </a:lnSpc>
              <a:spcAft>
                <a:spcPts val="1400"/>
              </a:spcAft>
            </a:pPr>
            <a:r>
              <a:rPr sz="1450" b="1">
                <a:solidFill>
                  <a:srgbClr val="1E2761"/>
                </a:solidFill>
                <a:latin typeface="Calibri"/>
              </a:rPr>
              <a:t>•  </a:t>
            </a:r>
            <a:r>
              <a:rPr sz="1450">
                <a:solidFill>
                  <a:srgbClr val="1A1A1A"/>
                </a:solidFill>
                <a:latin typeface="Calibri"/>
              </a:rPr>
              <a:t>That is exactly the gap AirSentinel is built to fill: a 24-72h lead time, at zone granularity, with a guessed cause — feeding GRAP better, earlier, more targeted information.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43400"/>
            <a:ext cx="11064240" cy="1554480"/>
          </a:xfrm>
          <a:prstGeom prst="roundRect">
            <a:avLst>
              <a:gd name="adj" fmla="val 6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WHAT AIRSENTINEL ADDS ON TOP OF GRAP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50" b="1">
                <a:solidFill>
                  <a:srgbClr val="028090"/>
                </a:solidFill>
                <a:latin typeface="Calibri"/>
              </a:rPr>
              <a:t>•  </a:t>
            </a:r>
            <a:r>
              <a:rPr sz="1350">
                <a:solidFill>
                  <a:srgbClr val="1A1A1A"/>
                </a:solidFill>
                <a:latin typeface="Calibri"/>
              </a:rPr>
              <a:t>Not a replacement for GRAP's action ladder — a better, earlier information feed into the ladder officials already use and trust.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Source: "Delhi brought GRAP reactively after AQI crossed limit — 13 out of 17 times this winter", theprint.in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Cambria"/>
              </a:rPr>
              <a:t>Three working modules, each independently runnable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611880" cy="4297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611880" cy="77724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6440" y="1778000"/>
            <a:ext cx="325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forecasting/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440" y="2514600"/>
            <a:ext cx="3256280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840" y="3200400"/>
            <a:ext cx="323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Scrapes DPCC CAAQMS live, 13 zones, hourly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Computes official CPCB AQI per zone/day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24/48/72h forecast, beats persistence baseline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CV-tuned regularization — verified anti-overfitting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611880" cy="4297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611880" cy="77724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1200" y="1778000"/>
            <a:ext cx="325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vehicle_emissions/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1200" y="2514600"/>
            <a:ext cx="3256280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6600" y="3200400"/>
            <a:ext cx="323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Real VAHAN RTO x fuel + RTO x class exports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Real BS6 emission limits + 0 g/km for EVs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Genuine per-zone variation, no more placeholder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Deterministic — zero overfitting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00200"/>
            <a:ext cx="3611880" cy="42976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600200"/>
            <a:ext cx="3611880" cy="77724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5960" y="1778000"/>
            <a:ext cx="325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shared/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15960" y="2514600"/>
            <a:ext cx="3256280" cy="45720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360" y="3200400"/>
            <a:ext cx="323088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GRAP Stage Mapper (verified current 2026 thresholds)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Alert Generator (matches official alert template)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Forecast-driven zone urgency ranking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Themed dashboard — renders real data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See PROJECT_STATUS.md for the full component-by-component gap analysis against the design plan.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MODULE 1 —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Cambria"/>
              </a:rPr>
              <a:t>Predicts AQI 24-72h ahead, per zone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Live DPCC scraper (reverse-engineered POST contract) — hourly data, all 13 zones, no hardcoded date windows.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Official CPCB AQI formula — piecewise sub-indices, max-of-pollutants, CPCB's &gt;=3-pollutant rule enforced.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Gradient-boosted trees, NOT the deck's "graph+LSTM" — a deliberate call: ~45 daily points/zone can't support an LSTM without overfitting; trees are far more sample-efficient.</a:t>
            </a:r>
          </a:p>
          <a:p>
            <a:pPr>
              <a:lnSpc>
                <a:spcPct val="120000"/>
              </a:lnSpc>
              <a:spcAft>
                <a:spcPts val="11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•  </a:t>
            </a:r>
            <a:r>
              <a:rPr sz="1300">
                <a:solidFill>
                  <a:srgbClr val="1A1A1A"/>
                </a:solidFill>
                <a:latin typeface="Calibri"/>
              </a:rPr>
              <a:t>Predicts a correction to persistence (not raw AQI), shrunk by a weight chosen via cross-validation that can never be selected to lose to the baseline out-of-fold.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257800" cy="306324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73736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E2761"/>
                </a:solidFill>
                <a:latin typeface="Calibri"/>
              </a:rPr>
              <a:t>RESULTS VS. PERSISTENCE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0" y="2148840"/>
            <a:ext cx="4800600" cy="457200"/>
          </a:xfrm>
          <a:prstGeom prst="rect">
            <a:avLst/>
          </a:prstGeom>
          <a:solidFill>
            <a:srgbClr val="1E2761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600" y="22250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Horizon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5800" y="22250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MAE improvement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0" y="22250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Overfit 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0" y="2606040"/>
            <a:ext cx="4800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5600" y="26822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24h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26822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+4.9%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0" y="26822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+3.3%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0" y="3063240"/>
            <a:ext cx="4800600" cy="457200"/>
          </a:xfrm>
          <a:prstGeom prst="rect">
            <a:avLst/>
          </a:prstGeom>
          <a:solidFill>
            <a:srgbClr val="F6F8FC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5600" y="31394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48h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31394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+23.2%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31394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+16.6%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3520440"/>
            <a:ext cx="4800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5600" y="35966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72h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35966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+34.6%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3596640"/>
            <a:ext cx="1447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1A1A1A"/>
                </a:solidFill>
                <a:latin typeface="Calibri"/>
              </a:rPr>
              <a:t>+14.9%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46E82"/>
                </a:solidFill>
                <a:latin typeface="Calibri"/>
              </a:rPr>
              <a:t>24h R2 is positive for the first time (+0.03) — beats "guess the average," not just persistence.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010912"/>
            <a:ext cx="10515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Delivered to the satellite/enforcement track: caaqms_readings.csv (real pollutant table, 597 zone-days) — replaces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the random placeholder labels used to prove the Prithvi fine-tuning pipeline works end-to-end.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forecasting/SESSION_SUMMARY.md §5-9 has full metrics incl. accuracy/precision/recall/F1 on CPCB category.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MODULE 2 — TAILPIPE POLLUTION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Cambria"/>
              </a:rPr>
              <a:t>Vehicle Emission Load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6E82"/>
                </a:solidFill>
                <a:latin typeface="Calibri"/>
              </a:rPr>
              <a:t>We calculate tailpipe pollution instead of sensing it — the same way national emission inventories are built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240" y="1818640"/>
            <a:ext cx="2128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Vehicle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240" y="2225040"/>
            <a:ext cx="2128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41A42"/>
                </a:solidFill>
                <a:latin typeface="Calibri"/>
              </a:rPr>
              <a:t>by type &amp; fuel, per 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69164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646E82"/>
                </a:solidFill>
                <a:latin typeface="Calibri"/>
              </a:rPr>
              <a:t>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6916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7720" y="1818640"/>
            <a:ext cx="2128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Emission factor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7720" y="2225040"/>
            <a:ext cx="2128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41A42"/>
                </a:solidFill>
                <a:latin typeface="Calibri"/>
              </a:rPr>
              <a:t>g/km, ARAI/CPCB tables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69164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646E82"/>
                </a:solidFill>
                <a:latin typeface="Calibri"/>
              </a:rPr>
              <a:t>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691640"/>
            <a:ext cx="2331720" cy="86868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45200" y="1818640"/>
            <a:ext cx="2128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1E2761"/>
                </a:solidFill>
                <a:latin typeface="Calibri"/>
              </a:rPr>
              <a:t>Avg. distance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5200" y="2225040"/>
            <a:ext cx="2128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141A42"/>
                </a:solidFill>
                <a:latin typeface="Calibri"/>
              </a:rPr>
              <a:t>published transport surveys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1520" y="1691640"/>
            <a:ext cx="365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646E82"/>
                </a:solidFill>
                <a:latin typeface="Calibri"/>
              </a:rPr>
              <a:t>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691640"/>
            <a:ext cx="2606040" cy="8686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9520" y="1869440"/>
            <a:ext cx="24231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Vehicle Emission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Load Index per zone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E2761"/>
                </a:solidFill>
                <a:latin typeface="Calibri"/>
              </a:rPr>
              <a:t>REAL VAHAN DATA — NO LONGER A PLACEHOLDER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090672"/>
            <a:ext cx="5486400" cy="2880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Real VAHAN Tabular Summary exports: RTO x fuel-type AND RTO x vehicle-class, all 10 relevant RTOs, accessed 2026-07-21.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VAHAN exposes two marginals, not the joint breakdown — combined via a documented, disclosed estimation method (real_registrations.py), restricted to fuel types with a real cited emission factor.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Electric vehicles: real 0 g/km factor (physical fact — no tailpipe on a battery drivetrain), so EVs are counted, not silently dropped.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Result: genuine per-zone variation — RK Puram 1.00 (highest) down to Anand Vihar/Vivek Vihar 0.19 — not the flat placeholder from before.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743200"/>
            <a:ext cx="5303520" cy="32461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926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HARDCODING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3375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Emission factors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844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Real BS6 regulatory limits + EV=0; full ARAI table still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86791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Avg. distance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148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Real 2-wheeler study cited; reused for cars, flagged not distinct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9826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Vehicle counts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451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Real VAHAN per-RTO data; category x fuel is an estimate, disclosed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9286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RTO -&gt; zone mapping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17550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Real RTO names + documented geo reasoning, editable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4589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The Index formula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7058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028090"/>
                </a:solidFill>
                <a:latin typeface="Calibri"/>
              </a:rPr>
              <a:t>Pure arithmetic — zero fitted parameters, zero overfitting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Without real or demo data the pipeline errors out with instructions rather than fabricate.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MODULE 3 — FUSION LAYER +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1A1A"/>
                </a:solidFill>
                <a:latin typeface="Cambria"/>
              </a:rPr>
              <a:t>Combines every track's real output into one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GRAP Stage Mapper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60020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Deterministic lookup, official CAQM thresholds — verified live against caqm.nic.in, current for 2026 (Stage I 201-300 ... Stage IV 451+).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6888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Alert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6888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Templated from real computed values only — matches the design plan's own alert format (slide 8), zero invented 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3756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Zone Urgency 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33756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Forecast-driven sort, vehicle-load tiebreak when available — explicitly scoped as NOT the full Enforcement Zone Ranker (that stays your teammate's track).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Cross-validation scaffold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20624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Delhi Supersite = a DPCC station, same scraper, confirmed working — but real data too sparse for a backtest tonight. SAFAR's site is down (expired TLS cert).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074920"/>
            <a:ext cx="109728" cy="777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2926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mbria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074920"/>
            <a:ext cx="76809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Renders whatever is real. Anything a sibling module hasn't produced yet shows an explicit "pending" badge — never a fabricated placeholder.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Design principle across all three modules: degrade to a visible "pending" state, never fabricate.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Four layers, top to bottom — status as of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518920"/>
            <a:ext cx="1097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DATA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3740" y="1518920"/>
            <a:ext cx="1435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DPCC CAAQMS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3740" y="1984248"/>
            <a:ext cx="14351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2068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5568" y="1518920"/>
            <a:ext cx="1435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Station weather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(temp/RH/wind)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5568" y="1984248"/>
            <a:ext cx="14351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63896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7396" y="1518920"/>
            <a:ext cx="1435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Sentinel-2 / 5P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imagery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7396" y="1984248"/>
            <a:ext cx="14351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TEAMMATE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35724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9224" y="1518920"/>
            <a:ext cx="1435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VAHAN vehicle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registrations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9224" y="1984248"/>
            <a:ext cx="14351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07552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5875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71052" y="1518920"/>
            <a:ext cx="1435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Delhi Supersite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(= DPCC station)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1052" y="1984248"/>
            <a:ext cx="14351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68A00"/>
                </a:solidFill>
                <a:latin typeface="Calibri"/>
              </a:rPr>
              <a:t>SPARSE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79380" y="1417320"/>
            <a:ext cx="1562100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42880" y="1518920"/>
            <a:ext cx="14351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SAFAR forecasts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42880" y="1984248"/>
            <a:ext cx="14351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SITE DOWN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309360" y="2350008"/>
            <a:ext cx="0" cy="256032"/>
          </a:xfrm>
          <a:prstGeom prst="line">
            <a:avLst/>
          </a:prstGeom>
          <a:ln w="19050">
            <a:solidFill>
              <a:srgbClr val="646E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48640" y="2715768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2817368"/>
            <a:ext cx="1097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MODEL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20240" y="2715768"/>
            <a:ext cx="2398014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83740" y="2817368"/>
            <a:ext cx="22710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Forecasting Engine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24-72h/zone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83740" y="3282696"/>
            <a:ext cx="22710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27982" y="2715768"/>
            <a:ext cx="2398014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1482" y="2817368"/>
            <a:ext cx="22710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Satellite Attribution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(Prithvi)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1482" y="3282696"/>
            <a:ext cx="22710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TEAMMATE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35724" y="2715768"/>
            <a:ext cx="2398014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9224" y="2817368"/>
            <a:ext cx="22710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Vehicle Emission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Load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9224" y="3282696"/>
            <a:ext cx="22710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43466" y="2715768"/>
            <a:ext cx="2398014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6966" y="2817368"/>
            <a:ext cx="22710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Enforcement Zone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Ranker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6966" y="3282696"/>
            <a:ext cx="227101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TEAMMATE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09360" y="3648456"/>
            <a:ext cx="0" cy="256032"/>
          </a:xfrm>
          <a:prstGeom prst="line">
            <a:avLst/>
          </a:prstGeom>
          <a:ln w="19050">
            <a:solidFill>
              <a:srgbClr val="646E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4014216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4115816"/>
            <a:ext cx="1097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FUSION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20240" y="4014216"/>
            <a:ext cx="4905756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83740" y="4115816"/>
            <a:ext cx="47787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GRAP Stage Mapper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83740" y="4581144"/>
            <a:ext cx="47787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35724" y="4014216"/>
            <a:ext cx="4905756" cy="91440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5875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9224" y="4115816"/>
            <a:ext cx="477875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Cross-check vs.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Supersite &amp; SAFAR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9224" y="4581144"/>
            <a:ext cx="47787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E68A00"/>
                </a:solidFill>
                <a:latin typeface="Calibri"/>
              </a:rPr>
              <a:t>SCAFFOLDED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4946904"/>
            <a:ext cx="0" cy="256032"/>
          </a:xfrm>
          <a:prstGeom prst="line">
            <a:avLst/>
          </a:prstGeom>
          <a:ln w="19050">
            <a:solidFill>
              <a:srgbClr val="646E8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548640" y="5312664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" y="5414264"/>
            <a:ext cx="109728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04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OUTPUT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920240" y="5312664"/>
            <a:ext cx="3233928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983740" y="5414264"/>
            <a:ext cx="310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Official Dashboard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83740" y="5879592"/>
            <a:ext cx="310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63896" y="5312664"/>
            <a:ext cx="3233928" cy="91440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27396" y="5414264"/>
            <a:ext cx="310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Alert Generator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27396" y="5879592"/>
            <a:ext cx="310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7D32"/>
                </a:solidFill>
                <a:latin typeface="Calibri"/>
              </a:rPr>
              <a:t>LIVE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07552" y="5312664"/>
            <a:ext cx="3233928" cy="91440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5875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71052" y="5414264"/>
            <a:ext cx="31069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>API / export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71052" y="5879592"/>
            <a:ext cx="310692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646E82"/>
                </a:solidFill>
                <a:latin typeface="Calibri"/>
              </a:rPr>
              <a:t>NOT BUILT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920240" y="6380480"/>
            <a:ext cx="201168" cy="146304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94560" y="63550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E82"/>
                </a:solidFill>
                <a:latin typeface="Calibri"/>
              </a:rPr>
              <a:t>Live, real data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0" y="6380480"/>
            <a:ext cx="201168" cy="146304"/>
          </a:xfrm>
          <a:prstGeom prst="rect">
            <a:avLst/>
          </a:prstGeom>
          <a:solidFill>
            <a:srgbClr val="FFF8E1"/>
          </a:solidFill>
          <a:ln w="127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846320" y="63550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E82"/>
                </a:solidFill>
                <a:latin typeface="Calibri"/>
              </a:rPr>
              <a:t>Accessible, sparse/scaffolded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60" y="6380480"/>
            <a:ext cx="201168" cy="146304"/>
          </a:xfrm>
          <a:prstGeom prst="rect">
            <a:avLst/>
          </a:prstGeom>
          <a:solidFill>
            <a:srgbClr val="ECEFF1"/>
          </a:solidFill>
          <a:ln w="12700">
            <a:solidFill>
              <a:srgbClr val="646E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0" y="635508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6E82"/>
                </a:solidFill>
                <a:latin typeface="Calibri"/>
              </a:rPr>
              <a:t>Teammate's track / not built / site down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Module folders: forecasting/  ·  vehicle_emissions/  ·  shared/  — full detail in PROJECT_STATUS.md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OUTPUT LAYER — LIVE RIGHT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AirSentinel — Delhi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46E82"/>
                </a:solidFill>
                <a:latin typeface="Calibri"/>
              </a:rPr>
              <a:t>The ACTUAL dashboard.html output, this session's real run — real VAHAN vehicle data now, not a placeholder.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0" y="6858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Delhi  (active)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4080" y="1115568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646E82"/>
                </a:solidFill>
                <a:latin typeface="Calibri"/>
              </a:rPr>
              <a:t>+ Add city (planned)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1687982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forecasting: live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46350" y="1481328"/>
            <a:ext cx="1929384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caaqms current: live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5462" y="1481328"/>
            <a:ext cx="2170785" cy="292608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vehicle emissions: 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5975" y="1481328"/>
            <a:ext cx="2734056" cy="292608"/>
          </a:xfrm>
          <a:prstGeom prst="roundRect">
            <a:avLst>
              <a:gd name="adj" fmla="val 50000"/>
            </a:avLst>
          </a:prstGeom>
          <a:solidFill>
            <a:srgbClr val="ECEF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646E82"/>
                </a:solidFill>
                <a:latin typeface="Calibri"/>
              </a:rPr>
              <a:t>satellite attribution: pending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240" y="2092960"/>
            <a:ext cx="1881631" cy="543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1E2761"/>
                </a:solidFill>
                <a:latin typeface="Cambria"/>
              </a:rPr>
              <a:t>138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" y="2611120"/>
            <a:ext cx="1932431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CITY-WIDE AVG</a:t>
            </a:r>
          </a:p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AQI (forecast)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199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44799" y="2092960"/>
            <a:ext cx="1881631" cy="543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F9A825"/>
                </a:solidFill>
                <a:latin typeface="Cambr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9399" y="2611120"/>
            <a:ext cx="1932431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STAGE 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8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358" y="2092960"/>
            <a:ext cx="1881631" cy="543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EF6C00"/>
                </a:solidFill>
                <a:latin typeface="Cambri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3958" y="2611120"/>
            <a:ext cx="1932431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STAGE II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17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3917" y="2092960"/>
            <a:ext cx="1881631" cy="543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C62828"/>
                </a:solidFill>
                <a:latin typeface="Cambria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8517" y="2611120"/>
            <a:ext cx="1932431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STAGE III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76" y="1965960"/>
            <a:ext cx="2084831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8476" y="2092960"/>
            <a:ext cx="1881631" cy="5435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 i="0">
                <a:solidFill>
                  <a:srgbClr val="6A1B9A"/>
                </a:solidFill>
                <a:latin typeface="Cambria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3076" y="2611120"/>
            <a:ext cx="1932431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6E82"/>
                </a:solidFill>
                <a:latin typeface="Calibri"/>
              </a:rPr>
              <a:t>STAGE 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TOP ZONES NEEDING ATTENTION (24h forecast)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840" y="3713480"/>
            <a:ext cx="69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7800" y="3713480"/>
            <a:ext cx="215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ZONE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3800" y="3713480"/>
            <a:ext cx="151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FORECAST AQI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79720" y="3713480"/>
            <a:ext cx="2159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GRAP STAGE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5720" y="3713480"/>
            <a:ext cx="183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VEHICLE 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1680" y="3713480"/>
            <a:ext cx="183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CADCFC"/>
                </a:solidFill>
                <a:latin typeface="Calibri"/>
              </a:rPr>
              <a:t>SATELLITE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977640"/>
            <a:ext cx="10972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840" y="3977640"/>
            <a:ext cx="695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47800" y="3977640"/>
            <a:ext cx="21590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Wazirpur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33800" y="3977640"/>
            <a:ext cx="151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215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79720" y="4091940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F9A825"/>
                </a:solidFill>
                <a:latin typeface="Calibri"/>
              </a:rPr>
              <a:t>Stage I — Poor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65720" y="3977640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0.31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31680" y="3977640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416552"/>
            <a:ext cx="10972800" cy="438912"/>
          </a:xfrm>
          <a:prstGeom prst="rect">
            <a:avLst/>
          </a:prstGeom>
          <a:solidFill>
            <a:srgbClr val="F6F8FC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840" y="4416552"/>
            <a:ext cx="695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47800" y="4416552"/>
            <a:ext cx="21590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Anand Vihar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33800" y="4416552"/>
            <a:ext cx="151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193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79720" y="4530852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Below GRAP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65720" y="4416552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0.19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31680" y="4416552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855464"/>
            <a:ext cx="10972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4840" y="4855464"/>
            <a:ext cx="695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7800" y="4855464"/>
            <a:ext cx="21590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Vivek Vihar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33800" y="4855464"/>
            <a:ext cx="151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157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79720" y="4969764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Below GRAP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65720" y="4855464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0.19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31680" y="4855464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294376"/>
            <a:ext cx="10972800" cy="438912"/>
          </a:xfrm>
          <a:prstGeom prst="rect">
            <a:avLst/>
          </a:prstGeom>
          <a:solidFill>
            <a:srgbClr val="F6F8FC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840" y="5294376"/>
            <a:ext cx="695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47800" y="5294376"/>
            <a:ext cx="21590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Mundka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733800" y="5294376"/>
            <a:ext cx="151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144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79720" y="5408676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Below GRAP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65720" y="5294376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0.48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31680" y="5294376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5733288"/>
            <a:ext cx="10972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4840" y="5733288"/>
            <a:ext cx="695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#5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47800" y="5733288"/>
            <a:ext cx="21590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Jahangirpuri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733800" y="5733288"/>
            <a:ext cx="1518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2761"/>
                </a:solidFill>
                <a:latin typeface="Calibri"/>
              </a:rPr>
              <a:t>134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379720" y="5847588"/>
            <a:ext cx="2082800" cy="27432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950" b="1">
                <a:solidFill>
                  <a:srgbClr val="2E7D32"/>
                </a:solidFill>
                <a:latin typeface="Calibri"/>
              </a:rPr>
              <a:t>Below GRAP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65720" y="5733288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0.29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31680" y="5733288"/>
            <a:ext cx="18389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1A1A1A"/>
                </a:solidFill>
                <a:latin typeface="Calibri"/>
              </a:rPr>
              <a:t>pending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Generated by shared/dashboard.py from real outputs — open shared/outputs/dashboard.html to see it live.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WHY THIS MATTERS FOR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A concrete tool for GRAP action-plan formulation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029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76400"/>
            <a:ext cx="502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Reactive -&gt; Proactive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00200"/>
            <a:ext cx="749807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24-72h lead time means Stage invocation can happen BEFORE the threshold is crossed, not 13/17 times after it — directly closing the gap from slide 2.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5029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19400"/>
            <a:ext cx="502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74320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City-wide -&gt; Zone-level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749807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GRAP restrictions today are largely city-wide/blanket. Per-zone forecasts + urgency ranking let officials target the worst zones first, instead of restricting all of Delhi for one bad pocket.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5029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962400"/>
            <a:ext cx="502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88620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Guessed cause -&gt; Targeted response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886200"/>
            <a:ext cx="749807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Vehicle Emission Load Index flags where tailpipe load is highest; the (planned) satellite attribution flags dust/industrial/crop-burning zones — so the RIGHT restriction (traffic vs. construction vs. burning) gets applied, not a generic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50292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05400"/>
            <a:ext cx="5029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5029200"/>
            <a:ext cx="27432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1E2761"/>
                </a:solidFill>
                <a:latin typeface="Cambria"/>
              </a:rPr>
              <a:t>Manual drafting -&gt; Auto-drafted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5029200"/>
            <a:ext cx="749807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The Alert Generator turns a forecast + GRAP stage into resident-ready, official-ready text in the same format CAQM already uses — cutting response lag on the communication side.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Not a GRAP replacement — a better, earlier information feed into the action framework officials already follow.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HACKATHON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How AirSentinel scores against the rubric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4520" y="1539240"/>
            <a:ext cx="2009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520" y="1920240"/>
            <a:ext cx="2009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25%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920" y="2331720"/>
            <a:ext cx="195884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Shrinkage-anchored model can't lose to the baseline out-of-fold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"Never fabricate" is architecture, not a slogan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Real, documented RTO-&gt;zone spatial mapping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0632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2232" y="1539240"/>
            <a:ext cx="2009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Business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2232" y="1920240"/>
            <a:ext cx="2009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7632" y="2331720"/>
            <a:ext cx="195884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Targets a cited failure: 13/17 reactive GRAP calls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Zone-level targeting vs. blanket restrictions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Auto-drafted alerts cut official response 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8344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38344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9944" y="1539240"/>
            <a:ext cx="2009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Technical Feasibility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9944" y="1920240"/>
            <a:ext cx="2009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20%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5344" y="2331720"/>
            <a:ext cx="195884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3 independently-runnable modules, real live data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Scraper contract reverse-engineered, not assumed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Beats a real baseline at all 3 horizons, just now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06056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06056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7656" y="1539240"/>
            <a:ext cx="2009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Scalability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7656" y="1920240"/>
            <a:ext cx="2009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3056" y="2331720"/>
            <a:ext cx="195884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Zero hardcoded absolute paths, anywhere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National CPCB aggregator found — 300+ cities, 1 portal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Editable-install keeps modules in sync, zero duplication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73768" y="1463040"/>
            <a:ext cx="2212848" cy="461772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73768" y="1463040"/>
            <a:ext cx="2212848" cy="685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75368" y="1539240"/>
            <a:ext cx="20096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mbria"/>
              </a:rPr>
              <a:t>User 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5368" y="1920240"/>
            <a:ext cx="20096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00768" y="2331720"/>
            <a:ext cx="1958848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GRAP-color dashboard, real data only, visible "pending"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Alert text matches the format officials already use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Planned: LLM + multi-language advisory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Weights per hackathon rubric: Innovation 25% · Business Impact 25% · Technical Feasibility 20% · Scalability 15% · UX 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What's left for your teammate, and how to plug it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STILL TO BUILD (satellite/enforcement track)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035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Finish fine-tuning Prithvi on REAL labels — caaqms_readings.csv (597 rows) was delivered to replace the random placeholder labels used to test the pipeline end-to-end.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Output a real per-zone source_guess with a confidence score.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•  </a:t>
            </a:r>
            <a:r>
              <a:rPr sz="1200">
                <a:solidFill>
                  <a:srgbClr val="1A1A1A"/>
                </a:solidFill>
                <a:latin typeface="Calibri"/>
              </a:rPr>
              <a:t>Enforcement Zone Ranker: hotspot + emission (our Vehicle Load Index is ready to consume) + land-use/industry cross-check.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486400" cy="246888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60020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INTEGRATION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28090"/>
                </a:solidFill>
                <a:latin typeface="Consolas"/>
              </a:rPr>
              <a:t>File: satellite_attribution/outputs/attribution.csv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2860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1A1A1A"/>
                </a:solidFill>
                <a:latin typeface="Consolas"/>
              </a:rPr>
              <a:t>Columns: zone, source_guess,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697480"/>
            <a:ext cx="5029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zone must match the 13 canonical names exactly (import from airsentinel.stations.ZONES — don't retype)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source_guess vocabulary should match: dust, crop_burning_smoke, industrial_haze, traffic_heavy, clear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28090"/>
                </a:solidFill>
                <a:latin typeface="Calibri"/>
              </a:rPr>
              <a:t>•  </a:t>
            </a:r>
            <a:r>
              <a:rPr sz="1050">
                <a:solidFill>
                  <a:srgbClr val="1A1A1A"/>
                </a:solidFill>
                <a:latin typeface="Calibri"/>
              </a:rPr>
              <a:t>Drop the file in place — shared/fuse.py picks it up automatically, no code change needed on our 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STEP-BY-STEP TO GO FROM "PENDING" TO "LIVE" ON THE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0240" y="467360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240" y="5130800"/>
            <a:ext cx="2494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Fine-tune Prithvi on real labels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46120" y="5093207"/>
            <a:ext cx="91440" cy="0"/>
          </a:xfrm>
          <a:prstGeom prst="line">
            <a:avLst/>
          </a:prstGeom>
          <a:ln w="19050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37560" y="45720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439160" y="467360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9160" y="5130800"/>
            <a:ext cx="2494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Run inference, produce per-zone source_guess + confidence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5093207"/>
            <a:ext cx="91440" cy="0"/>
          </a:xfrm>
          <a:prstGeom prst="line">
            <a:avLst/>
          </a:prstGeom>
          <a:ln w="19050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26480" y="45720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28080" y="467360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8080" y="5130800"/>
            <a:ext cx="2494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Write attribution.csv in the contract schema above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3960" y="5093207"/>
            <a:ext cx="91440" cy="0"/>
          </a:xfrm>
          <a:prstGeom prst="line">
            <a:avLst/>
          </a:prstGeom>
          <a:ln w="19050">
            <a:solidFill>
              <a:srgbClr val="0280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915400" y="457200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17000" y="4673600"/>
            <a:ext cx="3200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 tIns="12700" bIns="127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7000" y="5130800"/>
            <a:ext cx="2494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Re-run shared.pipeline — dashboard flips to live automatically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See forecasting/data/teammate_delivery/DATA_HANDOFF.md and shared/README.md "Satellite attribution contract".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SCALING BEYOND DELHI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Delhi first, but built to extend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REAL FINDING THIS SESSION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0835640" cy="105156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CPCB runs a national real-time aggregator (airquality.cpcb.gov.in/ccr) covering 300+ cities/towns in ONE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portal — not 27+ separate state scrapers. That is the recommended next integration target, not replicating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ADCFC"/>
                </a:solidFill>
                <a:latin typeface="Calibri"/>
              </a:rPr>
              <a:t>the DPCC-style reverse-engineering effort city-by-city.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CITIES WITH COMPARABLE MONITORING DENSITY TO DELHI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1840"/>
            <a:ext cx="109728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Delhi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9184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~30-40 CAAQMS stations (DPCC)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86200"/>
            <a:ext cx="109728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Mumbai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88620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28 CAAQMS (MPCB 14 + IITM 9 + BMC 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80560"/>
            <a:ext cx="109728" cy="50292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8056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National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48056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423+ stations across 209+ cities, 27 states (2023, growing)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5212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46E82"/>
                </a:solidFill>
                <a:latin typeface="Calibri"/>
              </a:rPr>
              <a:t>Honest caveat: only DPCC's contract was actually reverse-engineered and verified this session. Mumbai/others are cited as promising by station count, not yet verified scrapable.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9260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Calibri"/>
              </a:rPr>
              <a:t>HOW TO ADD A NEW 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29184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New stations.py-equivalent: zone list + station registry for that city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Verify that city's scraping contract (or the CPCB national portal, if it proves scrapable) the same way DPCC's was reverse-engineered — same process, documented in scraper.py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aqi.py, forecast.py, config.py need ZERO changes — already parameterized by zone/date, not Delhi-specific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vehicle_emissions needs a new RTO-to-zone mapping for that city's transport authority, same documented-approximation method as rto_mapping.py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•  </a:t>
            </a:r>
            <a:r>
              <a:rPr sz="1100">
                <a:solidFill>
                  <a:srgbClr val="1A1A1A"/>
                </a:solidFill>
                <a:latin typeface="Calibri"/>
              </a:rPr>
              <a:t>shared/config.py: add the new city's forecast path — dashboard already renders per-zone, just needs a city selector added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The dashboard's "+ Add city" chip (previous slide) reflects this — a real extension point, not built yet.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28090"/>
                </a:solidFill>
                <a:latin typeface="Calibri"/>
              </a:rPr>
              <a:t>PROPOSED NEXT LAYER (NOT BUILT)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A1A1A"/>
                </a:solidFill>
                <a:latin typeface="Cambria"/>
              </a:rPr>
              <a:t>An LLM that explains, never invents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10835640" cy="777240"/>
          </a:xfrm>
          <a:prstGeom prst="roundRect">
            <a:avLst>
              <a:gd name="adj" fmla="val 6000"/>
            </a:avLst>
          </a:prstGeom>
          <a:solidFill>
            <a:srgbClr val="FFF8E1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Design constraint, non-negotiable: the LLM only explains/translates numbers already computed by the real</a:t>
            </a:r>
          </a:p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pipeline (forecast AQI, GRAP stage, dominant source) — it never generates or guesses a pollution number itself.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mbria"/>
              </a:rPr>
              <a:t>CITIZEN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5349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"Should I go outside today / tomorrow?" — plain-language answer per zone, in Hindi, English, and extensible to other regional languages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Red-zone highlighting on the map — worst zones visually obvious at a glance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Personalised advisory flags (asthma, elderly, children) layered on the same real GRAP-stage advisory text already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37744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mbria"/>
              </a:rPr>
              <a:t>OFFICIAL / LAWMAKER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743200"/>
            <a:ext cx="5349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Same red zones + the forecast-urgency ranking already built, prioritised for enforcement attention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Auto-drafted official alert text (already built, slide 6) — LLM adds a plain-language "why" summary alongside it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1E2761"/>
                </a:solidFill>
                <a:latin typeface="Calibri"/>
              </a:rPr>
              <a:t>•  </a:t>
            </a:r>
            <a:r>
              <a:rPr sz="1150">
                <a:solidFill>
                  <a:srgbClr val="1A1A1A"/>
                </a:solidFill>
                <a:latin typeface="Calibri"/>
              </a:rPr>
              <a:t>Recommended GRAP stage to invoke, with the reasoning (which zones, which forecast, which source) shown, not hidden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49240"/>
            <a:ext cx="10835640" cy="822960"/>
          </a:xfrm>
          <a:prstGeom prst="roundRect">
            <a:avLst>
              <a:gd name="adj" fmla="val 5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103327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6E82"/>
                </a:solidFill>
                <a:latin typeface="Calibri"/>
              </a:rPr>
              <a:t>Architecture: a thin new layer reading shared/outputs/fused_zone_state.csv — doesn't touch any existing</a:t>
            </a:r>
          </a:p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46E82"/>
                </a:solidFill>
                <a:latin typeface="Calibri"/>
              </a:rPr>
              <a:t>pipeline, so it's purely additive. Explicitly future work, flagged here rather than presented as built.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Consistent with the project's core principle throughout: real numbers only, everything else is presentation.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46E8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ADCFC"/>
                </a:solidFill>
                <a:latin typeface="Calibri"/>
              </a:rPr>
              <a:t>STATUS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Where AirSentinel stands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7D32"/>
                </a:solidFill>
                <a:latin typeface="Calibri"/>
              </a:rP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520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2E7D32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Live forecasting engine, beats baseline at all 3 horizons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2E7D32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Vehicle emissions on real VAHAN data — real per-zone variation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2E7D32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Fusion layer, GRAP mapper, alerts, dashboard — all live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2E7D32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Real data delivered to satellite/enforcement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96596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68A00"/>
                </a:solidFill>
                <a:latin typeface="Calibri"/>
              </a:rPr>
              <a:t>STILL OPEN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2377440"/>
            <a:ext cx="3520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E68A00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Full ARAI/CPCB emission factor table (beyond BS6 limits)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E68A00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Real category-specific distance citations (beyond 2W study)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E68A00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Bus/truck/three-wheeler categories not yet covered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65960"/>
            <a:ext cx="3520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ADCFC"/>
                </a:solidFill>
                <a:latin typeface="Calibri"/>
              </a:rPr>
              <a:t>TEAMMATE'S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377440"/>
            <a:ext cx="35204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CADCFC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Prithvi fine-tuning on real delivered labels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CADCFC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Enforcement Zone Ranker (land-use/industry)</a:t>
            </a:r>
          </a:p>
          <a:p>
            <a:pPr>
              <a:lnSpc>
                <a:spcPct val="120000"/>
              </a:lnSpc>
              <a:spcAft>
                <a:spcPts val="900"/>
              </a:spcAft>
            </a:pPr>
            <a:r>
              <a:rPr sz="1150" b="1">
                <a:solidFill>
                  <a:srgbClr val="CADCFC"/>
                </a:solidFill>
                <a:latin typeface="Calibri"/>
              </a:rPr>
              <a:t>•  </a:t>
            </a:r>
            <a:r>
              <a:rPr sz="1150">
                <a:solidFill>
                  <a:srgbClr val="CADCFC"/>
                </a:solidFill>
                <a:latin typeface="Calibri"/>
              </a:rPr>
              <a:t>Drop attribution.csv into the documented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064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onsolas"/>
              </a:rPr>
              <a:t>github.com/bhavikas-loca1/airsentinel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8F9CC7"/>
                </a:solidFill>
                <a:latin typeface="Calibri"/>
              </a:rPr>
              <a:t>Full detail: PROJECT_STATUS.md · forecasting/SESSION_SUMMARY.md · vehicle_emissions/README.md · shared/README.md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